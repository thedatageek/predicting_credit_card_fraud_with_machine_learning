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19" r:id="rId2"/>
    <p:sldId id="320" r:id="rId3"/>
    <p:sldId id="374" r:id="rId4"/>
    <p:sldId id="368" r:id="rId5"/>
    <p:sldId id="372" r:id="rId6"/>
    <p:sldId id="352" r:id="rId7"/>
    <p:sldId id="362" r:id="rId8"/>
    <p:sldId id="349" r:id="rId9"/>
    <p:sldId id="363" r:id="rId10"/>
    <p:sldId id="375" r:id="rId11"/>
    <p:sldId id="373" r:id="rId12"/>
    <p:sldId id="359" r:id="rId13"/>
    <p:sldId id="358" r:id="rId14"/>
    <p:sldId id="367" r:id="rId15"/>
    <p:sldId id="351" r:id="rId16"/>
    <p:sldId id="364" r:id="rId17"/>
    <p:sldId id="366" r:id="rId18"/>
    <p:sldId id="377" r:id="rId19"/>
    <p:sldId id="3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A3835-2187-8941-BDD1-4F604AD0DC0D}" type="datetimeFigureOut">
              <a:rPr lang="en-US" smtClean="0"/>
              <a:t>7/13/22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BB26B-8DEB-5242-B008-1B6CB714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6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E366-83C6-8601-9EB1-1B48CF3DC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FCB96-5D79-6218-F7C8-E9B9B62E2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EBFF7-54BC-196F-7514-F8D5F0D8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8DFD2-C34C-C26C-E953-4CCF747E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88B0E-BA3D-4206-3662-A21BA0CB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9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2EF9-8400-E6C2-F62F-D4CD8C97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A07E-FBC0-C000-51F1-988516728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36BB7-105B-D6F4-030C-EC84090A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E656-BB0D-129F-154E-4ADC46D3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ACA9D-4888-FE89-7343-CC4F6477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7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3856-A75A-D0D8-6C25-AC646ACA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B9D50-CCD0-A2A7-3961-EDD4AEAF0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EB6DB-23B2-733C-F844-65CBA2AA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E8B7-51DB-0225-18F0-EA1DB9D4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701C9-02B8-09D7-8EB8-44BEF147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6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468B-23B0-E6BA-A16E-06F7ECA6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B674-7327-A5B5-21C5-85B68AF99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C7335-B176-6FDB-7211-D20FEEC0B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65516-D65B-9B44-28C2-4B103BD3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05745-294C-1D24-BACD-D67186A2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24D53-8632-1B1F-0203-104C313F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3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FA1C-5D05-939C-90B4-3885241B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92AB9-8411-7CB8-E1B8-3D3A279DF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AE4A2-F956-AF25-9750-3EDC26A70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10057-08F7-2ADE-74FB-E6C9A3D08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37027-411E-0396-25D7-ACAA2B2BA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6F971-ECB4-0C73-F4D2-00E014EE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3B293-162E-B16A-83CE-592BE33CA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B75B19-698A-2AB6-0B14-27AD299B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78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6261-832F-164E-B075-A59A8392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145D6-92A2-5397-F0AE-8CA16077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7BD6A-909F-45F9-2FE3-E17B52C3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1517D-6592-8B9F-9678-4AC81B1A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0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BCCB3-D58A-C1A1-6680-B58DA573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85197-C308-9A91-6BD7-1BE1BEBC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BA232-633D-2B9B-7140-3CA6A868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3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C534-E3E1-5C08-07B9-8F6F6D15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43CA0-A06A-1D22-3E30-D4DC3BDD1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470CE-06EA-CD53-7239-6D22862B8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E1B8E-17FB-F63C-79DF-63DBBC68C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CFCF2-67B9-E982-42AC-E3508E90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BD5DC-E056-31C8-8F0A-452B29C5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2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753D-F5FE-0F4A-4C2D-17211DA0F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5C9E7-9112-EAD9-06F4-988A22B13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C456A-0E67-9736-9720-649908889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EDDB7-21CC-D02A-35D7-8D23AD26B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000B0-44F9-C397-6128-50CFD373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844E1-CDAD-2FD8-1BD7-C54D20F0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1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8F25-88E3-8DCD-7D6B-BF75C516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F5AAF-D8B4-E83B-8F15-F0D7971E6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148E1-364A-C80F-4ACA-25307FDA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72B20-735F-191A-8ACB-35E91E8B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06343-3603-273C-C977-19B95BEC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7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1784A-8A78-6A7B-B8A4-DC77711D2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31846-3FBB-BBF1-E677-1C220BD24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3D06E-BE2A-232C-64F9-C3E868BF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B3B9-581B-4B88-02D9-309F3EEE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7AE44-CBC2-E955-7FD5-8CE5C838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4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CB2B0-2B79-FEEF-A606-EDD18D737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CD135-7C19-8334-42DF-F25CA2319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BA719-0695-A3A5-7AFE-756FE7157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0748-52A4-0E4F-AA5D-2666350000BB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1EA80-FE2E-1013-0D21-B94BD91DD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78436-A314-1C88-847B-688896B67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CF023-0FD8-1C4A-AE9E-FD016E0B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4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1D7045-1465-5D4E-8478-3BA34FD7D8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39473A8-8B34-F860-2940-AE78F0EE34B6}"/>
              </a:ext>
            </a:extLst>
          </p:cNvPr>
          <p:cNvSpPr txBox="1">
            <a:spLocks/>
          </p:cNvSpPr>
          <p:nvPr/>
        </p:nvSpPr>
        <p:spPr>
          <a:xfrm>
            <a:off x="418567" y="423275"/>
            <a:ext cx="5920449" cy="539725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Rockwell" panose="02060603020205020403" pitchFamily="18" charset="77"/>
              </a:rPr>
              <a:t>Detecting </a:t>
            </a:r>
          </a:p>
          <a:p>
            <a:r>
              <a:rPr lang="en-US" sz="6000" dirty="0">
                <a:solidFill>
                  <a:schemeClr val="bg1"/>
                </a:solidFill>
                <a:latin typeface="Rockwell" panose="02060603020205020403" pitchFamily="18" charset="77"/>
              </a:rPr>
              <a:t>Fraud </a:t>
            </a:r>
          </a:p>
          <a:p>
            <a:r>
              <a:rPr lang="en-US" sz="6000" dirty="0">
                <a:solidFill>
                  <a:schemeClr val="bg1"/>
                </a:solidFill>
                <a:latin typeface="Rockwell" panose="02060603020205020403" pitchFamily="18" charset="77"/>
              </a:rPr>
              <a:t>with Machine </a:t>
            </a:r>
          </a:p>
          <a:p>
            <a:r>
              <a:rPr lang="en-US" sz="6000" dirty="0">
                <a:solidFill>
                  <a:schemeClr val="bg1"/>
                </a:solidFill>
                <a:latin typeface="Rockwell" panose="02060603020205020403" pitchFamily="18" charset="77"/>
              </a:rPr>
              <a:t>Learning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134DC21-188D-76A4-809F-56F0E70FE905}"/>
              </a:ext>
            </a:extLst>
          </p:cNvPr>
          <p:cNvSpPr txBox="1">
            <a:spLocks/>
          </p:cNvSpPr>
          <p:nvPr/>
        </p:nvSpPr>
        <p:spPr>
          <a:xfrm>
            <a:off x="418567" y="52768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Rockwell" panose="02060603020205020403" pitchFamily="18" charset="77"/>
              </a:rPr>
              <a:t>Presented by:</a:t>
            </a:r>
          </a:p>
          <a:p>
            <a:r>
              <a:rPr lang="en-US" sz="4000" dirty="0">
                <a:latin typeface="Rockwell" panose="02060603020205020403" pitchFamily="18" charset="77"/>
              </a:rPr>
              <a:t>Tri Le</a:t>
            </a:r>
          </a:p>
        </p:txBody>
      </p:sp>
    </p:spTree>
    <p:extLst>
      <p:ext uri="{BB962C8B-B14F-4D97-AF65-F5344CB8AC3E}">
        <p14:creationId xmlns:p14="http://schemas.microsoft.com/office/powerpoint/2010/main" val="210603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Why credit card fraud?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138DE20-0A7B-D99D-91F3-E431DBC9A1BB}"/>
              </a:ext>
            </a:extLst>
          </p:cNvPr>
          <p:cNvSpPr txBox="1">
            <a:spLocks/>
          </p:cNvSpPr>
          <p:nvPr/>
        </p:nvSpPr>
        <p:spPr>
          <a:xfrm>
            <a:off x="1939352" y="1905741"/>
            <a:ext cx="8694537" cy="1048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$27.85 billion in fraud loss in 2018</a:t>
            </a:r>
            <a:endParaRPr lang="en-US" sz="36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and projected to rise to $40.63 billion in 10 years</a:t>
            </a:r>
            <a:r>
              <a:rPr lang="en-US" sz="2400" baseline="30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1</a:t>
            </a:r>
          </a:p>
          <a:p>
            <a:endParaRPr lang="en-US" sz="24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924FED-96C4-ECA3-9FBA-7EA76D44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29" y="6011782"/>
            <a:ext cx="11700585" cy="718457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Sources: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1.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</a:rPr>
              <a:t>https://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</a:rPr>
              <a:t>www.prnewswire.com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</a:rPr>
              <a:t>/news-releases/payment-card-fraud-losses-reach-27-85-billion-300963232.html</a:t>
            </a:r>
            <a:br>
              <a:rPr lang="en-US" sz="1400" u="sng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</a:rPr>
              <a:t>2. Fidelity National Information Services Inc.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9DC1B5E-792E-8FFC-A9AA-6586FCB3FAA9}"/>
              </a:ext>
            </a:extLst>
          </p:cNvPr>
          <p:cNvSpPr txBox="1">
            <a:spLocks/>
          </p:cNvSpPr>
          <p:nvPr/>
        </p:nvSpPr>
        <p:spPr>
          <a:xfrm>
            <a:off x="1939352" y="3105449"/>
            <a:ext cx="8694537" cy="1048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U.S. companies incurred 33.99% of total fraud losses worldwide </a:t>
            </a:r>
            <a:endParaRPr lang="en-US" sz="36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despite generating only 21.54% of global card volume</a:t>
            </a:r>
            <a:r>
              <a:rPr lang="en-US" sz="2400" baseline="30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1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B852E27-0FA4-CB63-5F44-6D14C581B113}"/>
              </a:ext>
            </a:extLst>
          </p:cNvPr>
          <p:cNvSpPr txBox="1">
            <a:spLocks/>
          </p:cNvSpPr>
          <p:nvPr/>
        </p:nvSpPr>
        <p:spPr>
          <a:xfrm>
            <a:off x="1939352" y="4599715"/>
            <a:ext cx="9421422" cy="1048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35% increase in fraudulent transactions</a:t>
            </a:r>
            <a:endParaRPr lang="en-US" sz="36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in April 2020 from the previous year and expected to rise</a:t>
            </a:r>
            <a:endParaRPr lang="en-US" sz="2400" baseline="30000" dirty="0">
              <a:solidFill>
                <a:schemeClr val="bg1">
                  <a:lumMod val="50000"/>
                </a:schemeClr>
              </a:solidFill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endParaRPr lang="en-US" sz="24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2211C8-C4F8-3C18-908E-0C6710C8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97" y="1763918"/>
            <a:ext cx="1004970" cy="9891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99F1BB-E497-2CE8-1498-61018A69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97" y="3123443"/>
            <a:ext cx="1004970" cy="989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0597EA-A97E-C87B-99CE-4EC476183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97" y="4482969"/>
            <a:ext cx="1004970" cy="98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5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Transactions: legit or fraud?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201638D-1181-CD13-493C-08C42B96CC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" t="11142" r="7694" b="5791"/>
          <a:stretch/>
        </p:blipFill>
        <p:spPr>
          <a:xfrm>
            <a:off x="1582701" y="1492470"/>
            <a:ext cx="8556247" cy="49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7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The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FB034E-E0C9-E94F-AED7-D2CC1D806874}"/>
              </a:ext>
            </a:extLst>
          </p:cNvPr>
          <p:cNvSpPr txBox="1"/>
          <p:nvPr/>
        </p:nvSpPr>
        <p:spPr>
          <a:xfrm>
            <a:off x="6096000" y="5287014"/>
            <a:ext cx="6502400" cy="132343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Repeat retailer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Used chip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Used pin 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Online 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4D218B-DA1C-CB26-5DF6-0B38D513A1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15070" y="2027315"/>
            <a:ext cx="4271939" cy="427193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85C86EB-7913-0AA8-36F2-C143D96E81B0}"/>
              </a:ext>
            </a:extLst>
          </p:cNvPr>
          <p:cNvGrpSpPr/>
          <p:nvPr/>
        </p:nvGrpSpPr>
        <p:grpSpPr>
          <a:xfrm>
            <a:off x="5369152" y="2076934"/>
            <a:ext cx="6467319" cy="584775"/>
            <a:chOff x="4643289" y="1331158"/>
            <a:chExt cx="6467319" cy="5847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2FBC993-6628-945E-8618-46CD59F98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3289" y="1465444"/>
              <a:ext cx="321278" cy="31620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0ACEE4-2DAF-1A1A-7D41-009167C34F2B}"/>
                </a:ext>
              </a:extLst>
            </p:cNvPr>
            <p:cNvSpPr txBox="1"/>
            <p:nvPr/>
          </p:nvSpPr>
          <p:spPr>
            <a:xfrm>
              <a:off x="4964567" y="1331158"/>
              <a:ext cx="61460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Rockwell" panose="02060603020205020403" pitchFamily="18" charset="77"/>
                </a:rPr>
                <a:t>1 million observable datapoints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8F1F4CC-54C8-1BD7-EC86-B942B0265DEA}"/>
              </a:ext>
            </a:extLst>
          </p:cNvPr>
          <p:cNvGrpSpPr/>
          <p:nvPr/>
        </p:nvGrpSpPr>
        <p:grpSpPr>
          <a:xfrm>
            <a:off x="5369152" y="3050645"/>
            <a:ext cx="4472094" cy="584775"/>
            <a:chOff x="4643289" y="1323134"/>
            <a:chExt cx="4472094" cy="5847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13DCF1D-ABD7-8046-4115-44454CBA3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3289" y="1465444"/>
              <a:ext cx="321278" cy="31620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E49C5C-9626-B145-F929-C302BB743F88}"/>
                </a:ext>
              </a:extLst>
            </p:cNvPr>
            <p:cNvSpPr txBox="1"/>
            <p:nvPr/>
          </p:nvSpPr>
          <p:spPr>
            <a:xfrm>
              <a:off x="4964567" y="1323134"/>
              <a:ext cx="41508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Rockwell" panose="02060603020205020403" pitchFamily="18" charset="77"/>
                </a:rPr>
                <a:t>3 numerical features: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B83B5A-3DC4-251E-A4A5-536DB98E4CB3}"/>
              </a:ext>
            </a:extLst>
          </p:cNvPr>
          <p:cNvGrpSpPr/>
          <p:nvPr/>
        </p:nvGrpSpPr>
        <p:grpSpPr>
          <a:xfrm>
            <a:off x="5369152" y="4718859"/>
            <a:ext cx="4692346" cy="584775"/>
            <a:chOff x="4643289" y="1331158"/>
            <a:chExt cx="4692346" cy="58477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1210FFD-68FD-E635-056B-ABFEE8D46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3289" y="1465444"/>
              <a:ext cx="321278" cy="31620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7955A4-B88A-A575-0AEE-F0D4BBB3E2B8}"/>
                </a:ext>
              </a:extLst>
            </p:cNvPr>
            <p:cNvSpPr txBox="1"/>
            <p:nvPr/>
          </p:nvSpPr>
          <p:spPr>
            <a:xfrm>
              <a:off x="4964567" y="1331158"/>
              <a:ext cx="437106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Rockwell" panose="02060603020205020403" pitchFamily="18" charset="77"/>
                </a:rPr>
                <a:t>4 categorical features: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1631413-2D4C-9277-8503-4784075A93EF}"/>
              </a:ext>
            </a:extLst>
          </p:cNvPr>
          <p:cNvSpPr txBox="1"/>
          <p:nvPr/>
        </p:nvSpPr>
        <p:spPr>
          <a:xfrm>
            <a:off x="6096000" y="3557913"/>
            <a:ext cx="6502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Distance from home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Distance from last transaction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ckwell" panose="02060603020205020403" pitchFamily="18" charset="77"/>
                <a:ea typeface="Hiragino Kaku Gothic Std W8" panose="020B0800000000000000" pitchFamily="34" charset="-128"/>
              </a:rPr>
              <a:t>Ratio to median purchase</a:t>
            </a:r>
          </a:p>
        </p:txBody>
      </p:sp>
    </p:spTree>
    <p:extLst>
      <p:ext uri="{BB962C8B-B14F-4D97-AF65-F5344CB8AC3E}">
        <p14:creationId xmlns:p14="http://schemas.microsoft.com/office/powerpoint/2010/main" val="313688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Methodology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796FE8E-1A3C-08F8-59E5-4CF5C43E57B5}"/>
              </a:ext>
            </a:extLst>
          </p:cNvPr>
          <p:cNvGrpSpPr/>
          <p:nvPr/>
        </p:nvGrpSpPr>
        <p:grpSpPr>
          <a:xfrm>
            <a:off x="1382748" y="1477052"/>
            <a:ext cx="1004970" cy="989102"/>
            <a:chOff x="1189708" y="1790458"/>
            <a:chExt cx="1004970" cy="9891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0CE1EE-B8DE-AFD1-5966-4100B4237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9708" y="1790458"/>
              <a:ext cx="1004970" cy="98910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68BC00-3087-AFEF-9ADB-91C81D65457C}"/>
                </a:ext>
              </a:extLst>
            </p:cNvPr>
            <p:cNvSpPr txBox="1"/>
            <p:nvPr/>
          </p:nvSpPr>
          <p:spPr>
            <a:xfrm>
              <a:off x="1443567" y="1869510"/>
              <a:ext cx="497252" cy="83099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800" b="1" dirty="0"/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9D6D66C-19B0-FA60-21A0-C72807B30303}"/>
              </a:ext>
            </a:extLst>
          </p:cNvPr>
          <p:cNvGrpSpPr/>
          <p:nvPr/>
        </p:nvGrpSpPr>
        <p:grpSpPr>
          <a:xfrm>
            <a:off x="1382748" y="2469109"/>
            <a:ext cx="1004970" cy="989102"/>
            <a:chOff x="1189708" y="1790458"/>
            <a:chExt cx="1004970" cy="9891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67FEC0-3D75-83E7-2F5B-676453336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9708" y="1790458"/>
              <a:ext cx="1004970" cy="98910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518833-A048-3163-6EB4-6142EC53D760}"/>
                </a:ext>
              </a:extLst>
            </p:cNvPr>
            <p:cNvSpPr txBox="1"/>
            <p:nvPr/>
          </p:nvSpPr>
          <p:spPr>
            <a:xfrm>
              <a:off x="1443567" y="1869510"/>
              <a:ext cx="497252" cy="83099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800" b="1" dirty="0"/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E9C533-7A7C-C339-F19B-C5F86089AB7E}"/>
              </a:ext>
            </a:extLst>
          </p:cNvPr>
          <p:cNvGrpSpPr/>
          <p:nvPr/>
        </p:nvGrpSpPr>
        <p:grpSpPr>
          <a:xfrm>
            <a:off x="1382748" y="3458211"/>
            <a:ext cx="1004970" cy="989102"/>
            <a:chOff x="1189708" y="1790458"/>
            <a:chExt cx="1004970" cy="98910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63E0751-9D1B-978C-3DCF-18CF7CCE7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9708" y="1790458"/>
              <a:ext cx="1004970" cy="98910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933622-7FEF-91A0-F33E-6FC5CD85E7BE}"/>
                </a:ext>
              </a:extLst>
            </p:cNvPr>
            <p:cNvSpPr txBox="1"/>
            <p:nvPr/>
          </p:nvSpPr>
          <p:spPr>
            <a:xfrm>
              <a:off x="1443567" y="1869510"/>
              <a:ext cx="497252" cy="83099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800" b="1" dirty="0"/>
                <a:t>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BC23E6-9866-DFF5-EACE-39703B4FD8CE}"/>
              </a:ext>
            </a:extLst>
          </p:cNvPr>
          <p:cNvGrpSpPr/>
          <p:nvPr/>
        </p:nvGrpSpPr>
        <p:grpSpPr>
          <a:xfrm>
            <a:off x="1382748" y="4526365"/>
            <a:ext cx="1004970" cy="989102"/>
            <a:chOff x="1189708" y="1790458"/>
            <a:chExt cx="1004970" cy="98910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70929A5-25A3-8140-8314-A7D743B6B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9708" y="1790458"/>
              <a:ext cx="1004970" cy="98910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FCB76D-8F3A-7DE2-5A5F-FAE988EA8559}"/>
                </a:ext>
              </a:extLst>
            </p:cNvPr>
            <p:cNvSpPr txBox="1"/>
            <p:nvPr/>
          </p:nvSpPr>
          <p:spPr>
            <a:xfrm>
              <a:off x="1443567" y="1869510"/>
              <a:ext cx="497252" cy="83099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800" b="1" dirty="0"/>
                <a:t>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C88FE4-E04F-194D-B425-ECA9BDC42393}"/>
              </a:ext>
            </a:extLst>
          </p:cNvPr>
          <p:cNvGrpSpPr/>
          <p:nvPr/>
        </p:nvGrpSpPr>
        <p:grpSpPr>
          <a:xfrm>
            <a:off x="1382748" y="5594519"/>
            <a:ext cx="1004970" cy="989102"/>
            <a:chOff x="1189708" y="1790458"/>
            <a:chExt cx="1004970" cy="98910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B5F33BC-2A3E-AD9E-191E-E30731378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9708" y="1790458"/>
              <a:ext cx="1004970" cy="98910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66E830-D640-A766-8361-3E6C3D5AF8DA}"/>
                </a:ext>
              </a:extLst>
            </p:cNvPr>
            <p:cNvSpPr txBox="1"/>
            <p:nvPr/>
          </p:nvSpPr>
          <p:spPr>
            <a:xfrm>
              <a:off x="1443567" y="1869510"/>
              <a:ext cx="497252" cy="83099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800" b="1" dirty="0"/>
                <a:t>5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3B12B42-1EF3-9196-FA11-6BF7C60363C3}"/>
              </a:ext>
            </a:extLst>
          </p:cNvPr>
          <p:cNvSpPr txBox="1"/>
          <p:nvPr/>
        </p:nvSpPr>
        <p:spPr>
          <a:xfrm>
            <a:off x="2387718" y="1679214"/>
            <a:ext cx="5673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Rockwell" panose="02060603020205020403" pitchFamily="18" charset="77"/>
              </a:rPr>
              <a:t>EDA + Feature Engineering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67D806-FD0A-1D1B-1D8E-3623FF76250B}"/>
              </a:ext>
            </a:extLst>
          </p:cNvPr>
          <p:cNvSpPr txBox="1"/>
          <p:nvPr/>
        </p:nvSpPr>
        <p:spPr>
          <a:xfrm>
            <a:off x="2387718" y="2668316"/>
            <a:ext cx="388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Rockwell" panose="02060603020205020403" pitchFamily="18" charset="77"/>
              </a:rPr>
              <a:t>Establish baseline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4BFD09-5072-ABD8-C02B-04AD7FB0D939}"/>
              </a:ext>
            </a:extLst>
          </p:cNvPr>
          <p:cNvSpPr txBox="1"/>
          <p:nvPr/>
        </p:nvSpPr>
        <p:spPr>
          <a:xfrm>
            <a:off x="2387718" y="3660373"/>
            <a:ext cx="4357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Rockwell" panose="02060603020205020403" pitchFamily="18" charset="77"/>
              </a:rPr>
              <a:t>Try different models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136E05-CD45-100D-7056-98FE8DAE4744}"/>
              </a:ext>
            </a:extLst>
          </p:cNvPr>
          <p:cNvSpPr txBox="1"/>
          <p:nvPr/>
        </p:nvSpPr>
        <p:spPr>
          <a:xfrm>
            <a:off x="2387718" y="4728527"/>
            <a:ext cx="8973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Rockwell" panose="02060603020205020403" pitchFamily="18" charset="77"/>
              </a:rPr>
              <a:t>Class Imbalance + Hyperparameter Tuning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E5B31C-0ED6-F082-197A-DE591FEF70E3}"/>
              </a:ext>
            </a:extLst>
          </p:cNvPr>
          <p:cNvSpPr txBox="1"/>
          <p:nvPr/>
        </p:nvSpPr>
        <p:spPr>
          <a:xfrm>
            <a:off x="2387718" y="5796681"/>
            <a:ext cx="6186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Rockwell" panose="02060603020205020403" pitchFamily="18" charset="77"/>
              </a:rPr>
              <a:t>Evaluate &amp; select ideal model</a:t>
            </a:r>
          </a:p>
        </p:txBody>
      </p:sp>
    </p:spTree>
    <p:extLst>
      <p:ext uri="{BB962C8B-B14F-4D97-AF65-F5344CB8AC3E}">
        <p14:creationId xmlns:p14="http://schemas.microsoft.com/office/powerpoint/2010/main" val="158292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799E80-1AD5-8986-1511-A55901322EB5}"/>
              </a:ext>
            </a:extLst>
          </p:cNvPr>
          <p:cNvCxnSpPr>
            <a:cxnSpLocks/>
          </p:cNvCxnSpPr>
          <p:nvPr/>
        </p:nvCxnSpPr>
        <p:spPr>
          <a:xfrm flipV="1">
            <a:off x="6089030" y="3861117"/>
            <a:ext cx="2184677" cy="639660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AE1D048-7AB1-146F-833B-C15D88AEC7E8}"/>
              </a:ext>
            </a:extLst>
          </p:cNvPr>
          <p:cNvCxnSpPr>
            <a:cxnSpLocks/>
          </p:cNvCxnSpPr>
          <p:nvPr/>
        </p:nvCxnSpPr>
        <p:spPr>
          <a:xfrm flipV="1">
            <a:off x="7884429" y="3881411"/>
            <a:ext cx="2678076" cy="703621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773EEA4-4C09-2E74-F55D-1799CB7826AB}"/>
              </a:ext>
            </a:extLst>
          </p:cNvPr>
          <p:cNvCxnSpPr>
            <a:cxnSpLocks/>
          </p:cNvCxnSpPr>
          <p:nvPr/>
        </p:nvCxnSpPr>
        <p:spPr>
          <a:xfrm>
            <a:off x="3915893" y="3861117"/>
            <a:ext cx="2184677" cy="639660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E079FD2-6925-0FF3-7670-D425DA6FE0BF}"/>
              </a:ext>
            </a:extLst>
          </p:cNvPr>
          <p:cNvCxnSpPr>
            <a:cxnSpLocks/>
          </p:cNvCxnSpPr>
          <p:nvPr/>
        </p:nvCxnSpPr>
        <p:spPr>
          <a:xfrm>
            <a:off x="1751009" y="3925144"/>
            <a:ext cx="2554162" cy="646986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C46C5CD-9804-D59B-C393-859BE3B7997F}"/>
              </a:ext>
            </a:extLst>
          </p:cNvPr>
          <p:cNvCxnSpPr>
            <a:cxnSpLocks/>
          </p:cNvCxnSpPr>
          <p:nvPr/>
        </p:nvCxnSpPr>
        <p:spPr>
          <a:xfrm flipV="1">
            <a:off x="3978883" y="2712452"/>
            <a:ext cx="1268136" cy="493503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4C2FE71-1929-C2D5-D8EA-23C3F51093B0}"/>
              </a:ext>
            </a:extLst>
          </p:cNvPr>
          <p:cNvCxnSpPr>
            <a:cxnSpLocks/>
          </p:cNvCxnSpPr>
          <p:nvPr/>
        </p:nvCxnSpPr>
        <p:spPr>
          <a:xfrm>
            <a:off x="6897256" y="2712452"/>
            <a:ext cx="1268136" cy="493503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B880B3B-E45D-C668-33A9-F8364BF29EBE}"/>
              </a:ext>
            </a:extLst>
          </p:cNvPr>
          <p:cNvCxnSpPr>
            <a:cxnSpLocks/>
          </p:cNvCxnSpPr>
          <p:nvPr/>
        </p:nvCxnSpPr>
        <p:spPr>
          <a:xfrm flipV="1">
            <a:off x="1620168" y="2565872"/>
            <a:ext cx="2829169" cy="599738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6AC8D46-34CE-7637-43F3-37D61A424650}"/>
              </a:ext>
            </a:extLst>
          </p:cNvPr>
          <p:cNvCxnSpPr>
            <a:cxnSpLocks/>
          </p:cNvCxnSpPr>
          <p:nvPr/>
        </p:nvCxnSpPr>
        <p:spPr>
          <a:xfrm>
            <a:off x="7742664" y="2565872"/>
            <a:ext cx="2829169" cy="599738"/>
          </a:xfrm>
          <a:prstGeom prst="line">
            <a:avLst/>
          </a:prstGeom>
          <a:ln w="38100" cap="rnd">
            <a:solidFill>
              <a:schemeClr val="bg1">
                <a:lumMod val="50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BF641A0-CBB2-79CE-4B01-B71F5F3A702C}"/>
              </a:ext>
            </a:extLst>
          </p:cNvPr>
          <p:cNvCxnSpPr>
            <a:cxnSpLocks/>
          </p:cNvCxnSpPr>
          <p:nvPr/>
        </p:nvCxnSpPr>
        <p:spPr>
          <a:xfrm>
            <a:off x="6096000" y="1724377"/>
            <a:ext cx="0" cy="4303137"/>
          </a:xfrm>
          <a:prstGeom prst="line">
            <a:avLst/>
          </a:prstGeom>
          <a:ln w="50800" cap="rnd">
            <a:solidFill>
              <a:schemeClr val="bg1">
                <a:lumMod val="50000"/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Methodology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A528B95-3BAA-3F37-854F-38007F337063}"/>
              </a:ext>
            </a:extLst>
          </p:cNvPr>
          <p:cNvSpPr>
            <a:spLocks/>
          </p:cNvSpPr>
          <p:nvPr/>
        </p:nvSpPr>
        <p:spPr>
          <a:xfrm>
            <a:off x="4148611" y="2310311"/>
            <a:ext cx="3880837" cy="4804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Rockwell" panose="02060603020205020403" pitchFamily="18" charset="77"/>
              </a:rPr>
              <a:t>Split Data (Training &amp; Testing)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4BF8E7BA-48D4-3797-76FC-890067FEE32E}"/>
              </a:ext>
            </a:extLst>
          </p:cNvPr>
          <p:cNvSpPr>
            <a:spLocks/>
          </p:cNvSpPr>
          <p:nvPr/>
        </p:nvSpPr>
        <p:spPr>
          <a:xfrm>
            <a:off x="1019696" y="3143890"/>
            <a:ext cx="1817936" cy="79766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ckwell" panose="02060603020205020403" pitchFamily="18" charset="77"/>
              </a:rPr>
              <a:t>kNN</a:t>
            </a:r>
            <a:endParaRPr lang="en-US" dirty="0">
              <a:solidFill>
                <a:schemeClr val="tx1"/>
              </a:solidFill>
              <a:latin typeface="Rockwell" panose="02060603020205020403" pitchFamily="18" charset="77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C340293E-C0D0-570B-7119-C581769D094D}"/>
              </a:ext>
            </a:extLst>
          </p:cNvPr>
          <p:cNvSpPr>
            <a:spLocks/>
          </p:cNvSpPr>
          <p:nvPr/>
        </p:nvSpPr>
        <p:spPr>
          <a:xfrm>
            <a:off x="3105076" y="3143889"/>
            <a:ext cx="1817936" cy="797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ckwell" panose="02060603020205020403" pitchFamily="18" charset="77"/>
              </a:rPr>
              <a:t>Logistic Regression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58472A08-39D7-4397-F6B7-EA79BE2C0AC7}"/>
              </a:ext>
            </a:extLst>
          </p:cNvPr>
          <p:cNvSpPr>
            <a:spLocks/>
          </p:cNvSpPr>
          <p:nvPr/>
        </p:nvSpPr>
        <p:spPr>
          <a:xfrm>
            <a:off x="5187032" y="3150238"/>
            <a:ext cx="1817936" cy="797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ckwell" panose="02060603020205020403" pitchFamily="18" charset="77"/>
              </a:rPr>
              <a:t>Decision Tree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37158D8C-6547-0D2D-1126-9350859B31CB}"/>
              </a:ext>
            </a:extLst>
          </p:cNvPr>
          <p:cNvSpPr>
            <a:spLocks/>
          </p:cNvSpPr>
          <p:nvPr/>
        </p:nvSpPr>
        <p:spPr>
          <a:xfrm>
            <a:off x="7268988" y="3143889"/>
            <a:ext cx="1817936" cy="797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ckwell" panose="02060603020205020403" pitchFamily="18" charset="77"/>
              </a:rPr>
              <a:t>Random Forest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C5ED041A-7EAC-06C4-2161-68F37EFF21C9}"/>
              </a:ext>
            </a:extLst>
          </p:cNvPr>
          <p:cNvSpPr>
            <a:spLocks/>
          </p:cNvSpPr>
          <p:nvPr/>
        </p:nvSpPr>
        <p:spPr>
          <a:xfrm>
            <a:off x="9354368" y="3143889"/>
            <a:ext cx="1817936" cy="797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ckwell" panose="02060603020205020403" pitchFamily="18" charset="77"/>
              </a:rPr>
              <a:t>XGBoost</a:t>
            </a:r>
            <a:endParaRPr lang="en-US" dirty="0">
              <a:solidFill>
                <a:schemeClr val="tx1"/>
              </a:solidFill>
              <a:latin typeface="Rockwell" panose="02060603020205020403" pitchFamily="18" charset="77"/>
            </a:endParaRP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524603B0-05C1-AFB2-ED18-120350648B2C}"/>
              </a:ext>
            </a:extLst>
          </p:cNvPr>
          <p:cNvSpPr>
            <a:spLocks/>
          </p:cNvSpPr>
          <p:nvPr/>
        </p:nvSpPr>
        <p:spPr>
          <a:xfrm>
            <a:off x="4246480" y="4296902"/>
            <a:ext cx="3699038" cy="50036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Rockwell" panose="02060603020205020403" pitchFamily="18" charset="77"/>
              </a:rPr>
              <a:t>Select Ideal Model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56B79D90-EE57-35F2-A93F-4C9A194DB3F4}"/>
              </a:ext>
            </a:extLst>
          </p:cNvPr>
          <p:cNvSpPr>
            <a:spLocks/>
          </p:cNvSpPr>
          <p:nvPr/>
        </p:nvSpPr>
        <p:spPr>
          <a:xfrm>
            <a:off x="4145280" y="5991614"/>
            <a:ext cx="3909767" cy="500369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Rockwell" panose="02060603020205020403" pitchFamily="18" charset="77"/>
              </a:rPr>
              <a:t>Evaluate Scoring Metrics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114F001C-E4C5-A4DA-5928-E27870C90FC5}"/>
              </a:ext>
            </a:extLst>
          </p:cNvPr>
          <p:cNvSpPr>
            <a:spLocks/>
          </p:cNvSpPr>
          <p:nvPr/>
        </p:nvSpPr>
        <p:spPr>
          <a:xfrm>
            <a:off x="2963213" y="5144258"/>
            <a:ext cx="6253676" cy="50036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Rockwell" panose="02060603020205020403" pitchFamily="18" charset="77"/>
              </a:rPr>
              <a:t>Class Imbalance + Hyperparameter Tuning</a:t>
            </a:r>
          </a:p>
        </p:txBody>
      </p:sp>
      <p:sp>
        <p:nvSpPr>
          <p:cNvPr id="127" name="Curved Right Arrow 126">
            <a:extLst>
              <a:ext uri="{FF2B5EF4-FFF2-40B4-BE49-F238E27FC236}">
                <a16:creationId xmlns:a16="http://schemas.microsoft.com/office/drawing/2014/main" id="{8B00C7F2-B19E-52D5-D698-DF5217C7D0DD}"/>
              </a:ext>
            </a:extLst>
          </p:cNvPr>
          <p:cNvSpPr/>
          <p:nvPr/>
        </p:nvSpPr>
        <p:spPr>
          <a:xfrm rot="13050224">
            <a:off x="9182917" y="5305161"/>
            <a:ext cx="714477" cy="1444706"/>
          </a:xfrm>
          <a:prstGeom prst="curvedRightArrow">
            <a:avLst/>
          </a:prstGeom>
          <a:solidFill>
            <a:schemeClr val="accent4"/>
          </a:solidFill>
          <a:ln>
            <a:solidFill>
              <a:schemeClr val="accent1">
                <a:shade val="50000"/>
                <a:alpha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C115B9D-36FC-6876-8E48-95E6C62305E7}"/>
              </a:ext>
            </a:extLst>
          </p:cNvPr>
          <p:cNvSpPr>
            <a:spLocks/>
          </p:cNvSpPr>
          <p:nvPr/>
        </p:nvSpPr>
        <p:spPr>
          <a:xfrm>
            <a:off x="4356987" y="1471118"/>
            <a:ext cx="3527442" cy="4804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Rockwell" panose="02060603020205020403" pitchFamily="18" charset="77"/>
              </a:rPr>
              <a:t>Credit Card Transactions</a:t>
            </a:r>
          </a:p>
        </p:txBody>
      </p:sp>
    </p:spTree>
    <p:extLst>
      <p:ext uri="{BB962C8B-B14F-4D97-AF65-F5344CB8AC3E}">
        <p14:creationId xmlns:p14="http://schemas.microsoft.com/office/powerpoint/2010/main" val="199895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Findings: Baseline Metrics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92F4EA9-6B84-A3FE-DB3E-19224A83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453" y="1868947"/>
            <a:ext cx="5449299" cy="4568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E65D72-BD85-8971-349C-EC1A117BD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7" y="1767160"/>
            <a:ext cx="6504815" cy="467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22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Findings: Baseline Metrics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95A014C-2150-1770-B535-A8AD5FA9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339" y="1366479"/>
            <a:ext cx="8082269" cy="544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5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Ideal Model: Decision Tree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C9A50EA-9B63-BB91-C53D-CD8C19B4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5" y="1780183"/>
            <a:ext cx="6504815" cy="46705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965817-E5FC-A34B-53C2-08A57AB7B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50" y="1881970"/>
            <a:ext cx="5449299" cy="456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76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Decision Tree Evaluation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138DE20-0A7B-D99D-91F3-E431DBC9A1BB}"/>
              </a:ext>
            </a:extLst>
          </p:cNvPr>
          <p:cNvSpPr txBox="1">
            <a:spLocks/>
          </p:cNvSpPr>
          <p:nvPr/>
        </p:nvSpPr>
        <p:spPr>
          <a:xfrm>
            <a:off x="2548951" y="2441769"/>
            <a:ext cx="8694537" cy="1048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Optimal hyperparameters: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Rockwell" panose="02060603020205020403" pitchFamily="18" charset="77"/>
                <a:ea typeface="Hiragino Kaku Gothic Std W8" panose="020B0800000000000000" pitchFamily="34" charset="-128"/>
              </a:rPr>
              <a:t>max_leaf_nodes</a:t>
            </a:r>
            <a:r>
              <a:rPr lang="en-US" sz="32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 = 39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Rockwell" panose="02060603020205020403" pitchFamily="18" charset="77"/>
                <a:ea typeface="Hiragino Kaku Gothic Std W8" panose="020B0800000000000000" pitchFamily="34" charset="-128"/>
              </a:rPr>
              <a:t>min_samples_split</a:t>
            </a:r>
            <a:r>
              <a:rPr lang="en-US" sz="32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 = 3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9DC1B5E-792E-8FFC-A9AA-6586FCB3FAA9}"/>
              </a:ext>
            </a:extLst>
          </p:cNvPr>
          <p:cNvSpPr txBox="1">
            <a:spLocks/>
          </p:cNvSpPr>
          <p:nvPr/>
        </p:nvSpPr>
        <p:spPr>
          <a:xfrm>
            <a:off x="2548951" y="4219545"/>
            <a:ext cx="8694537" cy="1048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Recall, Precision, F1 Score: 100%</a:t>
            </a:r>
            <a:endParaRPr lang="en-US" sz="36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2211C8-C4F8-3C18-908E-0C6710C8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696" y="2299946"/>
            <a:ext cx="1004970" cy="9891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99F1BB-E497-2CE8-1498-61018A69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696" y="4237539"/>
            <a:ext cx="1004970" cy="98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98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Final Model: Decision Tree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99A2010-68E4-AF93-2A3F-BE27DFF28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128" y="1328860"/>
            <a:ext cx="8175626" cy="544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6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A6C77C-BC68-3432-7027-3B8132767617}"/>
              </a:ext>
            </a:extLst>
          </p:cNvPr>
          <p:cNvSpPr txBox="1">
            <a:spLocks/>
          </p:cNvSpPr>
          <p:nvPr/>
        </p:nvSpPr>
        <p:spPr>
          <a:xfrm>
            <a:off x="588579" y="1335310"/>
            <a:ext cx="11035862" cy="4868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We can predict which transaction will be fraudulent with exceptionally perfect accuracy, precision, and recall at 100%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Because the model performed so well, there was no need to adjust class imbalance via over/under-sampling, weighting, or threshold adjustments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Rockwell" panose="02060603020205020403" pitchFamily="18" charset="77"/>
              <a:ea typeface="Hiragino Kaku Gothic Std W8" panose="020B0800000000000000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Which begs the question: Does this represent real-world data? Will our analysis benefit from the inclusion of additional data for further modeling?</a:t>
            </a:r>
          </a:p>
        </p:txBody>
      </p:sp>
    </p:spTree>
    <p:extLst>
      <p:ext uri="{BB962C8B-B14F-4D97-AF65-F5344CB8AC3E}">
        <p14:creationId xmlns:p14="http://schemas.microsoft.com/office/powerpoint/2010/main" val="1803508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1D7045-1465-5D4E-8478-3BA34FD7D8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39473A8-8B34-F860-2940-AE78F0EE34B6}"/>
              </a:ext>
            </a:extLst>
          </p:cNvPr>
          <p:cNvSpPr txBox="1">
            <a:spLocks/>
          </p:cNvSpPr>
          <p:nvPr/>
        </p:nvSpPr>
        <p:spPr>
          <a:xfrm>
            <a:off x="316967" y="2201275"/>
            <a:ext cx="5920449" cy="19948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  <a:latin typeface="Rockwell" panose="02060603020205020403" pitchFamily="18" charset="77"/>
              </a:rPr>
              <a:t>Questions?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134DC21-188D-76A4-809F-56F0E70FE905}"/>
              </a:ext>
            </a:extLst>
          </p:cNvPr>
          <p:cNvSpPr txBox="1">
            <a:spLocks/>
          </p:cNvSpPr>
          <p:nvPr/>
        </p:nvSpPr>
        <p:spPr>
          <a:xfrm>
            <a:off x="418567" y="4232441"/>
            <a:ext cx="10515600" cy="2589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Rockwell" panose="02060603020205020403" pitchFamily="18" charset="77"/>
              </a:rPr>
              <a:t>Metis</a:t>
            </a:r>
          </a:p>
          <a:p>
            <a:r>
              <a:rPr lang="en-US" sz="4000" dirty="0">
                <a:latin typeface="Rockwell" panose="02060603020205020403" pitchFamily="18" charset="77"/>
              </a:rPr>
              <a:t>Classification</a:t>
            </a:r>
          </a:p>
          <a:p>
            <a:r>
              <a:rPr lang="en-US" sz="4000" dirty="0">
                <a:latin typeface="Rockwell" panose="02060603020205020403" pitchFamily="18" charset="77"/>
              </a:rPr>
              <a:t>July 2020</a:t>
            </a:r>
          </a:p>
        </p:txBody>
      </p:sp>
    </p:spTree>
    <p:extLst>
      <p:ext uri="{BB962C8B-B14F-4D97-AF65-F5344CB8AC3E}">
        <p14:creationId xmlns:p14="http://schemas.microsoft.com/office/powerpoint/2010/main" val="2016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Appendix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1ABD87F-732F-9BB1-98A0-85B22F14B8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579"/>
          <a:stretch/>
        </p:blipFill>
        <p:spPr>
          <a:xfrm>
            <a:off x="3955601" y="2140892"/>
            <a:ext cx="3695930" cy="38058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663ACE-92BB-1556-0A84-C40B124A2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335" y="1948871"/>
            <a:ext cx="6012502" cy="40083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2B6E1CC-8A7E-5177-98C9-E2A788E750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7828"/>
          <a:stretch/>
        </p:blipFill>
        <p:spPr>
          <a:xfrm>
            <a:off x="185370" y="2133930"/>
            <a:ext cx="3729988" cy="380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79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Appendix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9DCE88C-E070-AB49-700E-63DB821BE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7" y="1868099"/>
            <a:ext cx="5905215" cy="4251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F3B19D-4130-9213-D1D0-021274EA3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274" y="1868100"/>
            <a:ext cx="5905213" cy="425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98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Appendix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1D724A7-CB69-D65E-253E-906EDDE80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0" y="1868098"/>
            <a:ext cx="5905212" cy="4251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587A71-DFC5-120A-9218-15ACE7FB5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274" y="1868098"/>
            <a:ext cx="5905212" cy="425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50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Appendix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59DC259-4E77-C419-C8A8-70676553A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478" y="1734537"/>
            <a:ext cx="6577043" cy="438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1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Appendix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A3072DD-1A79-4EE0-DC93-0CCDE058E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962" y="1902140"/>
            <a:ext cx="5873259" cy="421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18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1FAC9C-A9A6-2914-6B48-F67D931EB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21" t="5441" r="21822" b="6975"/>
          <a:stretch/>
        </p:blipFill>
        <p:spPr>
          <a:xfrm>
            <a:off x="1" y="0"/>
            <a:ext cx="1692192" cy="17345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7A17B1-BAE8-99EB-A5EA-3B14CEE94160}"/>
              </a:ext>
            </a:extLst>
          </p:cNvPr>
          <p:cNvSpPr txBox="1">
            <a:spLocks/>
          </p:cNvSpPr>
          <p:nvPr/>
        </p:nvSpPr>
        <p:spPr>
          <a:xfrm>
            <a:off x="1692193" y="-55921"/>
            <a:ext cx="10574624" cy="142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Rockwell" panose="02060603020205020403" pitchFamily="18" charset="77"/>
                <a:ea typeface="Hiragino Kaku Gothic Std W8" panose="020B0800000000000000" pitchFamily="34" charset="-128"/>
              </a:rPr>
              <a:t>Appendix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3F0409-8E74-FD20-5DC0-C7975181B98A}"/>
              </a:ext>
            </a:extLst>
          </p:cNvPr>
          <p:cNvCxnSpPr>
            <a:cxnSpLocks/>
          </p:cNvCxnSpPr>
          <p:nvPr/>
        </p:nvCxnSpPr>
        <p:spPr>
          <a:xfrm>
            <a:off x="1761377" y="1139474"/>
            <a:ext cx="10003903" cy="0"/>
          </a:xfrm>
          <a:prstGeom prst="line">
            <a:avLst/>
          </a:prstGeom>
          <a:ln w="44450">
            <a:solidFill>
              <a:schemeClr val="accent4"/>
            </a:solidFill>
          </a:ln>
          <a:effectLst>
            <a:outerShdw dir="5400000" algn="ctr" rotWithShape="0">
              <a:srgbClr val="C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2518B6F-01CD-D19B-A708-9ABAD0F2E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0" y="1879197"/>
            <a:ext cx="5905212" cy="42400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2837D2-77F7-DB11-3F3D-485E343F0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914" y="1683014"/>
            <a:ext cx="6654326" cy="443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00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325</Words>
  <Application>Microsoft Macintosh PowerPoint</Application>
  <PresentationFormat>Widescreen</PresentationFormat>
  <Paragraphs>76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Rockwell</vt:lpstr>
      <vt:lpstr>Office Theme</vt:lpstr>
      <vt:lpstr>PowerPoint Presentation</vt:lpstr>
      <vt:lpstr>Sources:  1. https://www.prnewswire.com/news-releases/payment-card-fraud-losses-reach-27-85-billion-300963232.html 2. Fidelity National Information Services Inc.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Sticker Shock: Bay Area Housing Market</dc:title>
  <dc:creator>Tri Le</dc:creator>
  <cp:lastModifiedBy>Tri Le</cp:lastModifiedBy>
  <cp:revision>12</cp:revision>
  <dcterms:created xsi:type="dcterms:W3CDTF">2022-05-18T08:19:46Z</dcterms:created>
  <dcterms:modified xsi:type="dcterms:W3CDTF">2022-07-13T22:43:46Z</dcterms:modified>
</cp:coreProperties>
</file>